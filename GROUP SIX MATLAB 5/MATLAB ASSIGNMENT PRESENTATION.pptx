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NEWTON RAPHSON’S FORMULA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560445"/>
            <a:ext cx="10086975" cy="3532505"/>
          </a:xfrm>
        </p:spPr>
        <p:txBody>
          <a:bodyPr>
            <a:normAutofit/>
          </a:bodyPr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NEWTON RAPHSON’S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500"/>
              <a:t>Formula:</a:t>
            </a:r>
            <a:endParaRPr lang="en-US" altLang="en-US" sz="1500"/>
          </a:p>
          <a:p>
            <a:r>
              <a:rPr lang="en-US" altLang="en-US" sz="1500"/>
              <a:t>x(n+1) = x(n) - f(x(n)) / f'(x(n))</a:t>
            </a:r>
            <a:endParaRPr lang="en-US" altLang="en-US" sz="1500"/>
          </a:p>
          <a:p>
            <a:r>
              <a:rPr lang="en-US" altLang="en-US" sz="1500"/>
              <a:t>f(x) = x³ - 3x - 1 = 0</a:t>
            </a:r>
            <a:endParaRPr lang="en-US" altLang="en-US" sz="1500"/>
          </a:p>
          <a:p>
            <a:r>
              <a:rPr lang="en-US" altLang="en-US" sz="1500"/>
              <a:t>Derivative:</a:t>
            </a:r>
            <a:endParaRPr lang="en-US" altLang="en-US" sz="1500"/>
          </a:p>
          <a:p>
            <a:r>
              <a:rPr lang="en-US" altLang="en-US" sz="1500"/>
              <a:t>f'(x) = 3x² - 3</a:t>
            </a:r>
            <a:endParaRPr lang="en-US" altLang="en-US" sz="1500"/>
          </a:p>
          <a:p>
            <a:r>
              <a:rPr lang="en-US" altLang="en-US" sz="1500"/>
              <a:t>Initial: x0 = 2</a:t>
            </a:r>
            <a:endParaRPr lang="en-US" altLang="en-US" sz="1500"/>
          </a:p>
          <a:p>
            <a:r>
              <a:rPr lang="en-US" altLang="en-US" sz="1500"/>
              <a:t>Tolerance: 0.000001=1e-6</a:t>
            </a:r>
            <a:endParaRPr lang="en-US" altLang="en-US" sz="1500"/>
          </a:p>
          <a:p>
            <a:r>
              <a:rPr lang="en-US" altLang="en-US" sz="1500"/>
              <a:t>% Newton-Raphson Method using FOR loop</a:t>
            </a:r>
            <a:endParaRPr lang="en-US" altLang="en-US" sz="1500"/>
          </a:p>
          <a:p>
            <a:r>
              <a:rPr lang="en-US" altLang="en-US" sz="1500"/>
              <a:t>% Equation: f(x) = x^3 - 3x - 1 = 0</a:t>
            </a:r>
            <a:endParaRPr lang="en-US" altLang="en-US" sz="1500"/>
          </a:p>
          <a:p>
            <a:r>
              <a:rPr lang="en-US" altLang="en-US" sz="1500"/>
              <a:t>% Define function and its derivative</a:t>
            </a:r>
            <a:endParaRPr lang="en-US" altLang="en-US" sz="1500"/>
          </a:p>
          <a:p>
            <a:r>
              <a:rPr lang="en-US" altLang="en-US" sz="1500"/>
              <a:t>f = @(x) x^3 - 3*x - 1;</a:t>
            </a:r>
            <a:endParaRPr lang="en-US" altLang="en-US" sz="1500"/>
          </a:p>
          <a:p>
            <a:r>
              <a:rPr lang="en-US" altLang="en-US" sz="1500"/>
              <a:t>df = @(x) 3*x^2 - 3;</a:t>
            </a:r>
            <a:endParaRPr lang="en-US" altLang="en-US" sz="1500"/>
          </a:p>
          <a:p>
            <a:r>
              <a:rPr lang="en-US" altLang="en-US" sz="1500"/>
              <a:t>% Parameters</a:t>
            </a:r>
            <a:endParaRPr lang="en-US" altLang="en-US" sz="1500"/>
          </a:p>
          <a:p>
            <a:r>
              <a:rPr lang="en-US" altLang="en-US" sz="1500"/>
              <a:t>x0 = 2;</a:t>
            </a:r>
            <a:endParaRPr lang="en-US" altLang="en-US" sz="1500"/>
          </a:p>
          <a:p>
            <a:r>
              <a:rPr lang="en-US" altLang="en-US" sz="1500"/>
              <a:t>tol = 1e-6;</a:t>
            </a:r>
            <a:endParaRPr lang="en-US" altLang="en-US" sz="1500"/>
          </a:p>
          <a:p>
            <a:r>
              <a:rPr lang="en-US" altLang="en-US" sz="1500"/>
              <a:t>max_iter = 50;</a:t>
            </a:r>
            <a:endParaRPr lang="en-US" altLang="en-US" sz="15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Autofit/>
          </a:bodyPr>
          <a:p>
            <a:r>
              <a:rPr lang="en-US" altLang="en-US" sz="1500"/>
              <a:t>x = x0;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fprintf('Newton-Raphson Method (FOR loop)\n');</a:t>
            </a:r>
            <a:endParaRPr lang="en-US" altLang="en-US" sz="1500"/>
          </a:p>
          <a:p>
            <a:r>
              <a:rPr lang="en-US" altLang="en-US" sz="1500"/>
              <a:t>fprintf('max Iter\t x\t\t error\n');</a:t>
            </a:r>
            <a:endParaRPr lang="en-US" altLang="en-US" sz="1500"/>
          </a:p>
          <a:p>
            <a:r>
              <a:rPr lang="en-US" altLang="en-US" sz="1500"/>
              <a:t>for k = 1:max_iter</a:t>
            </a:r>
            <a:endParaRPr lang="en-US" altLang="en-US" sz="1500"/>
          </a:p>
          <a:p>
            <a:r>
              <a:rPr lang="en-US" altLang="en-US" sz="1500"/>
              <a:t>    fx = f(x);</a:t>
            </a:r>
            <a:endParaRPr lang="en-US" altLang="en-US" sz="1500"/>
          </a:p>
          <a:p>
            <a:r>
              <a:rPr lang="en-US" altLang="en-US" sz="1500"/>
              <a:t>    dfx = df(x);</a:t>
            </a:r>
            <a:endParaRPr lang="en-US" altLang="en-US" sz="1500"/>
          </a:p>
          <a:p>
            <a:r>
              <a:rPr lang="en-US" altLang="en-US" sz="1500"/>
              <a:t>    x1 = x - fx/dfx;</a:t>
            </a:r>
            <a:endParaRPr lang="en-US" altLang="en-US" sz="1500"/>
          </a:p>
          <a:p>
            <a:r>
              <a:rPr lang="en-US" altLang="en-US" sz="1500"/>
              <a:t>    error = abs(x1 – x)</a:t>
            </a:r>
            <a:endParaRPr lang="en-US" altLang="en-US" sz="1500"/>
          </a:p>
          <a:p>
            <a:r>
              <a:rPr lang="en-US" altLang="en-US" sz="1500"/>
              <a:t>    if error &lt; tol</a:t>
            </a:r>
            <a:endParaRPr lang="en-US" altLang="en-US" sz="1500"/>
          </a:p>
          <a:p>
            <a:r>
              <a:rPr lang="en-US" altLang="en-US" sz="1500"/>
              <a:t>        fprintf('Root = %.6f\n', x1);</a:t>
            </a:r>
            <a:endParaRPr lang="en-US" altLang="en-US" sz="1500"/>
          </a:p>
          <a:p>
            <a:r>
              <a:rPr lang="en-US" altLang="en-US" sz="1500"/>
              <a:t>        fprintf('Number of iterations: %d\n', k); </a:t>
            </a:r>
            <a:endParaRPr lang="en-US" altLang="en-US" sz="1500"/>
          </a:p>
          <a:p>
            <a:r>
              <a:rPr lang="en-US" altLang="en-US" sz="1500"/>
              <a:t>  break;</a:t>
            </a:r>
            <a:endParaRPr lang="en-US" altLang="en-US" sz="1500"/>
          </a:p>
          <a:p>
            <a:r>
              <a:rPr lang="en-US" altLang="en-US" sz="1500"/>
              <a:t>    end</a:t>
            </a:r>
            <a:endParaRPr lang="en-US" altLang="en-US" sz="1500"/>
          </a:p>
          <a:p>
            <a:r>
              <a:rPr lang="en-US" altLang="en-US" sz="1500"/>
              <a:t>    x = x1;</a:t>
            </a:r>
            <a:endParaRPr lang="en-US" altLang="en-US" sz="1500"/>
          </a:p>
          <a:p>
            <a:r>
              <a:rPr lang="en-US" altLang="en-US" sz="1500"/>
              <a:t>end</a:t>
            </a:r>
            <a:endParaRPr lang="en-US" altLang="en-US" sz="150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NEWTON-RAPHSON PSEUDOCODE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2910" y="1490345"/>
            <a:ext cx="11154410" cy="6196330"/>
          </a:xfrm>
        </p:spPr>
        <p:txBody>
          <a:bodyPr>
            <a:noAutofit/>
          </a:bodyPr>
          <a:p>
            <a:r>
              <a:rPr lang="en-US" altLang="en-US" sz="1000"/>
              <a:t>BEGIN</a:t>
            </a:r>
            <a:endParaRPr lang="en-US" altLang="en-US" sz="1000"/>
          </a:p>
          <a:p>
            <a:r>
              <a:rPr lang="en-US" altLang="en-US" sz="1000"/>
              <a:t>    INPUT x0, tolerance, max_iterations</a:t>
            </a:r>
            <a:endParaRPr lang="en-US" altLang="en-US" sz="1000"/>
          </a:p>
          <a:p>
            <a:r>
              <a:rPr lang="en-US" altLang="en-US" sz="1000"/>
              <a:t>    SET x = x0</a:t>
            </a:r>
            <a:endParaRPr lang="en-US" altLang="en-US" sz="1000"/>
          </a:p>
          <a:p>
            <a:r>
              <a:rPr lang="en-US" altLang="en-US" sz="1000"/>
              <a:t>    SET k= 0</a:t>
            </a:r>
            <a:endParaRPr lang="en-US" altLang="en-US" sz="1000"/>
          </a:p>
          <a:p>
            <a:r>
              <a:rPr lang="en-US" altLang="en-US" sz="1000"/>
              <a:t>    SET error = 1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    WHILE (error &gt; tolerance AND k&lt; max_iterations) DO</a:t>
            </a:r>
            <a:endParaRPr lang="en-US" altLang="en-US" sz="1000"/>
          </a:p>
          <a:p>
            <a:r>
              <a:rPr lang="en-US" altLang="en-US" sz="1000"/>
              <a:t>        COMPUTE fx = f(x)</a:t>
            </a:r>
            <a:endParaRPr lang="en-US" altLang="en-US" sz="1000"/>
          </a:p>
          <a:p>
            <a:r>
              <a:rPr lang="en-US" altLang="en-US" sz="1000"/>
              <a:t>        COMPUTE dfx = f'(x)</a:t>
            </a:r>
            <a:endParaRPr lang="en-US" altLang="en-US" sz="1000"/>
          </a:p>
          <a:p>
            <a:r>
              <a:rPr lang="en-US" altLang="en-US" sz="1000"/>
              <a:t>        COMPUTE x1 = x - (fx / dfx)</a:t>
            </a:r>
            <a:endParaRPr lang="en-US" altLang="en-US" sz="1000"/>
          </a:p>
          <a:p>
            <a:r>
              <a:rPr lang="en-US" altLang="en-US" sz="1000"/>
              <a:t>        COMPUTE error = ABS(x1 - x)</a:t>
            </a:r>
            <a:endParaRPr lang="en-US" altLang="en-US" sz="1000"/>
          </a:p>
          <a:p>
            <a:r>
              <a:rPr lang="en-US" altLang="en-US" sz="1000"/>
              <a:t>        SET x = x1</a:t>
            </a:r>
            <a:endParaRPr lang="en-US" altLang="en-US" sz="1000"/>
          </a:p>
          <a:p>
            <a:r>
              <a:rPr lang="en-US" altLang="en-US" sz="1000"/>
              <a:t>        SET k = k+ 1</a:t>
            </a:r>
            <a:endParaRPr lang="en-US" altLang="en-US" sz="1000"/>
          </a:p>
          <a:p>
            <a:r>
              <a:rPr lang="en-US" altLang="en-US" sz="1000"/>
              <a:t>DISPLAY k, x, error</a:t>
            </a:r>
            <a:endParaRPr lang="en-US" altLang="en-US" sz="1000"/>
          </a:p>
          <a:p>
            <a:r>
              <a:rPr lang="en-US" altLang="en-US" sz="1000"/>
              <a:t>    END WHILE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    DISPLAY "Root = ", x</a:t>
            </a:r>
            <a:endParaRPr lang="en-US" altLang="en-US" sz="1000"/>
          </a:p>
          <a:p>
            <a:r>
              <a:rPr lang="en-US" altLang="en-US" sz="1000"/>
              <a:t>    DISPLAY "Iterations = ", k</a:t>
            </a:r>
            <a:endParaRPr lang="en-US" altLang="en-US" sz="1000"/>
          </a:p>
          <a:p>
            <a:r>
              <a:rPr lang="en-US" altLang="en-US" sz="1000"/>
              <a:t>END</a:t>
            </a:r>
            <a:endParaRPr lang="en-US" altLang="en-US" sz="10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NEWTON-RAPHSON USING WHILE LOOP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en-US"/>
              <a:t>% Newton-Raphson Method using WHILE loop</a:t>
            </a:r>
            <a:endParaRPr lang="en-US" altLang="en-US"/>
          </a:p>
          <a:p>
            <a:r>
              <a:rPr lang="en-US" altLang="en-US"/>
              <a:t>% Equation: f(x) = x^3 - 3x - 1 = 0</a:t>
            </a:r>
            <a:endParaRPr lang="en-US" altLang="en-US"/>
          </a:p>
          <a:p>
            <a:r>
              <a:rPr lang="en-US" altLang="en-US"/>
              <a:t>f = @(x) x^3 - 3*x - 1;</a:t>
            </a:r>
            <a:endParaRPr lang="en-US" altLang="en-US"/>
          </a:p>
          <a:p>
            <a:r>
              <a:rPr lang="en-US" altLang="en-US"/>
              <a:t>df = @(x) 3*x^2 - 3;</a:t>
            </a:r>
            <a:endParaRPr lang="en-US" altLang="en-US"/>
          </a:p>
          <a:p>
            <a:r>
              <a:rPr lang="en-US" altLang="en-US"/>
              <a:t>x = 2;</a:t>
            </a:r>
            <a:endParaRPr lang="en-US" altLang="en-US"/>
          </a:p>
          <a:p>
            <a:r>
              <a:rPr lang="en-US" altLang="en-US"/>
              <a:t>tol = 1e-6;</a:t>
            </a:r>
            <a:endParaRPr lang="en-US" altLang="en-US"/>
          </a:p>
          <a:p>
            <a:r>
              <a:rPr lang="en-US" altLang="en-US"/>
              <a:t>max_iter = 50;</a:t>
            </a:r>
            <a:endParaRPr lang="en-US" altLang="en-US"/>
          </a:p>
          <a:p>
            <a:r>
              <a:rPr lang="en-US" altLang="en-US"/>
              <a:t>k = 0;</a:t>
            </a:r>
            <a:endParaRPr lang="en-US" altLang="en-US"/>
          </a:p>
          <a:p>
            <a:r>
              <a:rPr lang="en-US" altLang="en-US"/>
              <a:t>error = 1;</a:t>
            </a:r>
            <a:endParaRPr lang="en-US" altLang="en-US"/>
          </a:p>
          <a:p>
            <a:r>
              <a:rPr lang="en-US" altLang="en-US"/>
              <a:t>fprintf('Newton-Raphson Method (WHILE loop)\n');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en-US" altLang="en-US"/>
              <a:t>fprintf('Iter\t x\t\t error\n');</a:t>
            </a:r>
            <a:endParaRPr lang="en-US" altLang="en-US"/>
          </a:p>
          <a:p>
            <a:r>
              <a:rPr lang="en-US" altLang="en-US"/>
              <a:t>while error &gt; tol &amp;&amp; i &lt; max_iter</a:t>
            </a:r>
            <a:endParaRPr lang="en-US" altLang="en-US"/>
          </a:p>
          <a:p>
            <a:r>
              <a:rPr lang="en-US" altLang="en-US"/>
              <a:t>    fx = f(x);</a:t>
            </a:r>
            <a:endParaRPr lang="en-US" altLang="en-US"/>
          </a:p>
          <a:p>
            <a:r>
              <a:rPr lang="en-US" altLang="en-US"/>
              <a:t>    dfx = df(x);</a:t>
            </a:r>
            <a:endParaRPr lang="en-US" altLang="en-US"/>
          </a:p>
          <a:p>
            <a:r>
              <a:rPr lang="en-US" altLang="en-US"/>
              <a:t>    x1 = x - fx/dfx;</a:t>
            </a:r>
            <a:endParaRPr lang="en-US" altLang="en-US"/>
          </a:p>
          <a:p>
            <a:r>
              <a:rPr lang="en-US" altLang="en-US"/>
              <a:t>    error = abs(x1- x);</a:t>
            </a:r>
            <a:endParaRPr lang="en-US" altLang="en-US"/>
          </a:p>
          <a:p>
            <a:r>
              <a:rPr lang="en-US" altLang="en-US"/>
              <a:t>    k = k + 1;</a:t>
            </a:r>
            <a:endParaRPr lang="en-US" altLang="en-US"/>
          </a:p>
          <a:p>
            <a:r>
              <a:rPr lang="en-US" altLang="en-US"/>
              <a:t>    fprintf('%d\t %.6f\t %.8f\n', k, x1, error);</a:t>
            </a:r>
            <a:endParaRPr lang="en-US" altLang="en-US"/>
          </a:p>
          <a:p>
            <a:r>
              <a:rPr lang="en-US" altLang="en-US"/>
              <a:t>    x = x1;</a:t>
            </a:r>
            <a:endParaRPr lang="en-US" altLang="en-US"/>
          </a:p>
          <a:p>
            <a:r>
              <a:rPr lang="en-US" altLang="en-US"/>
              <a:t>end</a:t>
            </a:r>
            <a:endParaRPr lang="en-US" altLang="en-US"/>
          </a:p>
          <a:p>
            <a:r>
              <a:rPr lang="en-US" altLang="en-US"/>
              <a:t>fprintf('Root: %.6f\n', x);</a:t>
            </a:r>
            <a:endParaRPr lang="en-US" altLang="en-US"/>
          </a:p>
          <a:p>
            <a:r>
              <a:rPr lang="en-US" altLang="en-US"/>
              <a:t>fprintf('Number of iterations: %d\n',k);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SECANT METHOD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88620" y="1501140"/>
            <a:ext cx="5396230" cy="5661025"/>
          </a:xfrm>
        </p:spPr>
        <p:txBody>
          <a:bodyPr>
            <a:normAutofit fontScale="25000"/>
          </a:bodyPr>
          <a:p>
            <a:r>
              <a:rPr lang="en-US" altLang="en-US" sz="6400"/>
              <a:t>Formula:</a:t>
            </a:r>
            <a:endParaRPr lang="en-US" altLang="en-US" sz="6400"/>
          </a:p>
          <a:p>
            <a:r>
              <a:rPr lang="en-US" altLang="en-US" sz="6400"/>
              <a:t>x(n+1) = x(n) - f(x(n)) × [x(n) - x(n-1)] / [f(x(n)) - f(x(n-1))]</a:t>
            </a:r>
            <a:endParaRPr lang="en-US" altLang="en-US" sz="6400"/>
          </a:p>
          <a:p>
            <a:r>
              <a:rPr lang="en-US" altLang="en-US" sz="6400"/>
              <a:t>f(x) = x³ - 3x - 1 = 0</a:t>
            </a:r>
            <a:endParaRPr lang="en-US" altLang="en-US" sz="6400"/>
          </a:p>
          <a:p>
            <a:endParaRPr lang="en-US" altLang="en-US" sz="6400"/>
          </a:p>
          <a:p>
            <a:r>
              <a:rPr lang="en-US" altLang="en-US" sz="6400"/>
              <a:t>Initial guesses: x0 = 1, x1 = 2</a:t>
            </a:r>
            <a:endParaRPr lang="en-US" altLang="en-US" sz="6400"/>
          </a:p>
          <a:p>
            <a:endParaRPr lang="en-US" altLang="en-US" sz="6400"/>
          </a:p>
          <a:p>
            <a:r>
              <a:rPr lang="en-US" altLang="en-US" sz="6400"/>
              <a:t>Tolerance: 0.000001</a:t>
            </a:r>
            <a:endParaRPr lang="en-US" altLang="en-US" sz="6400"/>
          </a:p>
          <a:p>
            <a:r>
              <a:rPr lang="en-US" altLang="en-US" sz="6400"/>
              <a:t>% Secant Method using FOR loop</a:t>
            </a:r>
            <a:endParaRPr lang="en-US" altLang="en-US" sz="6400"/>
          </a:p>
          <a:p>
            <a:r>
              <a:rPr lang="en-US" altLang="en-US" sz="6400"/>
              <a:t>% Equation: f(x) = x^3 - 3x - 1 = 0</a:t>
            </a:r>
            <a:endParaRPr lang="en-US" altLang="en-US" sz="6400"/>
          </a:p>
          <a:p>
            <a:r>
              <a:rPr lang="en-US" altLang="en-US" sz="6400"/>
              <a:t>f = @(x) x^3 - 3*x - 1;</a:t>
            </a:r>
            <a:endParaRPr lang="en-US" altLang="en-US" sz="6400"/>
          </a:p>
          <a:p>
            <a:r>
              <a:rPr lang="en-US" altLang="en-US" sz="6400"/>
              <a:t>x0 = 1;</a:t>
            </a:r>
            <a:endParaRPr lang="en-US" altLang="en-US" sz="6400"/>
          </a:p>
          <a:p>
            <a:r>
              <a:rPr lang="en-US" altLang="en-US" sz="6400"/>
              <a:t>x1 = 2;</a:t>
            </a:r>
            <a:endParaRPr lang="en-US" altLang="en-US" sz="6400"/>
          </a:p>
          <a:p>
            <a:r>
              <a:rPr lang="en-US" altLang="en-US" sz="6400"/>
              <a:t>tol = 1e-6;</a:t>
            </a:r>
            <a:endParaRPr lang="en-US" altLang="en-US" sz="6400"/>
          </a:p>
          <a:p>
            <a:r>
              <a:rPr lang="en-US" altLang="en-US" sz="6400"/>
              <a:t>max_iter = 50;</a:t>
            </a:r>
            <a:endParaRPr lang="en-US" altLang="en-US" sz="6400"/>
          </a:p>
          <a:p>
            <a:endParaRPr lang="en-US" altLang="en-US" sz="64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972175" y="1313815"/>
            <a:ext cx="5615940" cy="10716895"/>
          </a:xfrm>
        </p:spPr>
        <p:txBody>
          <a:bodyPr>
            <a:normAutofit fontScale="25000"/>
          </a:bodyPr>
          <a:p>
            <a:r>
              <a:rPr lang="en-US" altLang="en-US" sz="6400"/>
              <a:t> </a:t>
            </a:r>
            <a:r>
              <a:rPr lang="en-US" altLang="en-US" sz="6400">
                <a:sym typeface="+mn-ea"/>
              </a:rPr>
              <a:t>fprintf('Secant Method (FOR loop)\n');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for k = 1:max_iter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f0 = f(x0);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f1 = f(x1);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if abs(f1 - f0) &lt; 1e-12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    fprintf('Division by zero - stopping\n');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    break;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end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x2 = x1 - f1 * (x1 - x0) / (f1 - f0);</a:t>
            </a:r>
            <a:endParaRPr lang="en-US" altLang="en-US" sz="6400"/>
          </a:p>
          <a:p>
            <a:r>
              <a:rPr lang="en-US" altLang="en-US" sz="6400">
                <a:sym typeface="+mn-ea"/>
              </a:rPr>
              <a:t>    error = abs(x2 - x1);</a:t>
            </a:r>
            <a:endParaRPr lang="en-US" altLang="en-US" sz="6400"/>
          </a:p>
          <a:p>
            <a:r>
              <a:rPr lang="en-US" altLang="en-US" sz="6400"/>
              <a:t> </a:t>
            </a:r>
            <a:endParaRPr lang="en-US" altLang="en-US" sz="6400"/>
          </a:p>
          <a:p>
            <a:endParaRPr lang="en-US" altLang="en-US" sz="6400"/>
          </a:p>
          <a:p>
            <a:endParaRPr lang="en-US" altLang="en-US" sz="6400"/>
          </a:p>
          <a:p>
            <a:endParaRPr lang="en-US" altLang="en-US" sz="6400"/>
          </a:p>
          <a:p>
            <a:endParaRPr lang="en-US" altLang="en-US" sz="6400"/>
          </a:p>
          <a:p>
            <a:r>
              <a:rPr lang="en-US" altLang="en-US" sz="6400"/>
              <a:t>fprintf('%d\t %.6f\t %.8f\n', k, x2, error);</a:t>
            </a:r>
            <a:endParaRPr lang="en-US" altLang="en-US" sz="6400"/>
          </a:p>
          <a:p>
            <a:r>
              <a:rPr lang="en-US" altLang="en-US" sz="6400"/>
              <a:t>    if error &lt; tol</a:t>
            </a:r>
            <a:endParaRPr lang="en-US" altLang="en-US" sz="6400"/>
          </a:p>
          <a:p>
            <a:r>
              <a:rPr lang="en-US" altLang="en-US" sz="6400"/>
              <a:t>        fprintf('Root: %.6f\n', x2);</a:t>
            </a:r>
            <a:endParaRPr lang="en-US" altLang="en-US" sz="6400"/>
          </a:p>
          <a:p>
            <a:r>
              <a:rPr lang="en-US" altLang="en-US" sz="6400"/>
              <a:t>        fprintf('Number of iterations: %d\n', k);</a:t>
            </a:r>
            <a:endParaRPr lang="en-US" altLang="en-US" sz="6400"/>
          </a:p>
          <a:p>
            <a:r>
              <a:rPr lang="en-US" altLang="en-US" sz="6400"/>
              <a:t>        break;</a:t>
            </a:r>
            <a:endParaRPr lang="en-US" altLang="en-US" sz="6400"/>
          </a:p>
          <a:p>
            <a:r>
              <a:rPr lang="en-US" altLang="en-US" sz="6400"/>
              <a:t>    end</a:t>
            </a:r>
            <a:endParaRPr lang="en-US" altLang="en-US" sz="6400"/>
          </a:p>
          <a:p>
            <a:r>
              <a:rPr lang="en-US" altLang="en-US" sz="6400"/>
              <a:t>    x0 = x1;</a:t>
            </a:r>
            <a:endParaRPr lang="en-US" altLang="en-US" sz="6400"/>
          </a:p>
          <a:p>
            <a:r>
              <a:rPr lang="en-US" altLang="en-US" sz="6400"/>
              <a:t>    x1 = x2;</a:t>
            </a:r>
            <a:endParaRPr lang="en-US" altLang="en-US" sz="6400"/>
          </a:p>
          <a:p>
            <a:r>
              <a:rPr lang="en-US" altLang="en-US" sz="6400"/>
              <a:t>end</a:t>
            </a:r>
            <a:endParaRPr lang="en-US" altLang="en-US" sz="6400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WHILE LOOP FOR SECANT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100"/>
              <a:t>BEGIN</a:t>
            </a:r>
            <a:endParaRPr lang="en-US" altLang="en-US" sz="1100"/>
          </a:p>
          <a:p>
            <a:r>
              <a:rPr lang="en-US" altLang="en-US" sz="1100"/>
              <a:t>    INPUT x0, x1, tolerance, max_iterations</a:t>
            </a:r>
            <a:endParaRPr lang="en-US" altLang="en-US" sz="1100"/>
          </a:p>
          <a:p>
            <a:r>
              <a:rPr lang="en-US" altLang="en-US" sz="1100"/>
              <a:t>    SET k = 0</a:t>
            </a:r>
            <a:endParaRPr lang="en-US" altLang="en-US" sz="1100"/>
          </a:p>
          <a:p>
            <a:r>
              <a:rPr lang="en-US" altLang="en-US" sz="1100"/>
              <a:t>    SET error = 1</a:t>
            </a:r>
            <a:endParaRPr lang="en-US" altLang="en-US" sz="1100"/>
          </a:p>
          <a:p>
            <a:endParaRPr lang="en-US" altLang="en-US" sz="1100"/>
          </a:p>
          <a:p>
            <a:r>
              <a:rPr lang="en-US" altLang="en-US" sz="1100"/>
              <a:t>    WHILE (error &gt; tolerance AND k &lt; max_iterations) DO</a:t>
            </a:r>
            <a:endParaRPr lang="en-US" altLang="en-US" sz="1100"/>
          </a:p>
          <a:p>
            <a:r>
              <a:rPr lang="en-US" altLang="en-US" sz="1100"/>
              <a:t>        COMPUTE f0 = f(x0)</a:t>
            </a:r>
            <a:endParaRPr lang="en-US" altLang="en-US" sz="1100"/>
          </a:p>
          <a:p>
            <a:r>
              <a:rPr lang="en-US" altLang="en-US" sz="1100"/>
              <a:t>        COMPUTE f1 = f(x1)</a:t>
            </a:r>
            <a:endParaRPr lang="en-US" altLang="en-US" sz="1100"/>
          </a:p>
          <a:p>
            <a:r>
              <a:rPr lang="en-US" altLang="en-US" sz="1100"/>
              <a:t>        COMPUTE x2 = x1 - f1 * (x1 - x0) / (f1 - f0)</a:t>
            </a:r>
            <a:endParaRPr lang="en-US" altLang="en-US" sz="1100"/>
          </a:p>
          <a:p>
            <a:r>
              <a:rPr lang="en-US" altLang="en-US" sz="1100"/>
              <a:t>        COMPUTE error = ABS(x2 - x1)</a:t>
            </a:r>
            <a:endParaRPr lang="en-US" altLang="en-US" sz="1100"/>
          </a:p>
          <a:p>
            <a:r>
              <a:rPr lang="en-US" altLang="en-US" sz="1100"/>
              <a:t>        SET x0 = x1</a:t>
            </a:r>
            <a:endParaRPr lang="en-US" altLang="en-US" sz="1100"/>
          </a:p>
          <a:p>
            <a:r>
              <a:rPr lang="en-US" altLang="en-US" sz="1100"/>
              <a:t>        SET x1 = x2</a:t>
            </a:r>
            <a:endParaRPr lang="en-US" altLang="en-US" sz="1100"/>
          </a:p>
          <a:p>
            <a:r>
              <a:rPr lang="en-US" altLang="en-US" sz="1100"/>
              <a:t>        SET k = k + 1</a:t>
            </a:r>
            <a:endParaRPr lang="en-US" altLang="en-US" sz="1100"/>
          </a:p>
          <a:p>
            <a:r>
              <a:rPr lang="en-US" altLang="en-US" sz="1100"/>
              <a:t>        DISPLAY k, x2, error</a:t>
            </a:r>
            <a:endParaRPr lang="en-US" altLang="en-US" sz="1100"/>
          </a:p>
          <a:p>
            <a:r>
              <a:rPr lang="en-US" altLang="en-US" sz="1100"/>
              <a:t>    END WHILE</a:t>
            </a:r>
            <a:endParaRPr lang="en-US" altLang="en-US" sz="1100"/>
          </a:p>
          <a:p>
            <a:endParaRPr lang="en-US" altLang="en-US" sz="1100"/>
          </a:p>
          <a:p>
            <a:r>
              <a:rPr lang="en-US" altLang="en-US" sz="1100"/>
              <a:t>    DISPLAY "Root = ", x2</a:t>
            </a:r>
            <a:endParaRPr lang="en-US" altLang="en-US" sz="1100"/>
          </a:p>
          <a:p>
            <a:r>
              <a:rPr lang="en-US" altLang="en-US" sz="1100"/>
              <a:t>    DISPLAY "Iterations = ", k</a:t>
            </a:r>
            <a:endParaRPr lang="en-US" altLang="en-US" sz="1100"/>
          </a:p>
          <a:p>
            <a:r>
              <a:rPr lang="en-US" altLang="en-US" sz="1100"/>
              <a:t>END</a:t>
            </a:r>
            <a:endParaRPr lang="en-US" altLang="en-US" sz="11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RUNGE-KUTTA USING FOR LOOP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600"/>
              <a:t>% Runge-Kutta 4th Order using FOR loop</a:t>
            </a:r>
            <a:endParaRPr lang="en-US" altLang="en-US" sz="1600"/>
          </a:p>
          <a:p>
            <a:r>
              <a:rPr lang="en-US" altLang="en-US" sz="1600"/>
              <a:t>% Equation: dy/dx = 2x + y, y(0) = 1</a:t>
            </a:r>
            <a:endParaRPr lang="en-US" altLang="en-US" sz="1600"/>
          </a:p>
          <a:p>
            <a:r>
              <a:rPr lang="en-US" altLang="en-US" sz="1600"/>
              <a:t>f = @(x, y) 2*x + y;</a:t>
            </a:r>
            <a:endParaRPr lang="en-US" altLang="en-US" sz="1600"/>
          </a:p>
          <a:p>
            <a:r>
              <a:rPr lang="en-US" altLang="en-US" sz="1600"/>
              <a:t>x = 0;</a:t>
            </a:r>
            <a:endParaRPr lang="en-US" altLang="en-US" sz="1600"/>
          </a:p>
          <a:p>
            <a:r>
              <a:rPr lang="en-US" altLang="en-US" sz="1600"/>
              <a:t>y = 1;</a:t>
            </a:r>
            <a:endParaRPr lang="en-US" altLang="en-US" sz="1600"/>
          </a:p>
          <a:p>
            <a:r>
              <a:rPr lang="en-US" altLang="en-US" sz="1600"/>
              <a:t>h = 0.1;</a:t>
            </a:r>
            <a:endParaRPr lang="en-US" altLang="en-US" sz="1600"/>
          </a:p>
          <a:p>
            <a:r>
              <a:rPr lang="en-US" altLang="en-US" sz="1600"/>
              <a:t>n = 5;</a:t>
            </a:r>
            <a:endParaRPr lang="en-US" altLang="en-US" sz="1600"/>
          </a:p>
          <a:p>
            <a:r>
              <a:rPr lang="en-US" altLang="en-US" sz="1600"/>
              <a:t>fprintf('Runge-Kutta 4th Order (FOR loop)\n');</a:t>
            </a:r>
            <a:endParaRPr lang="en-US" altLang="en-US" sz="1600"/>
          </a:p>
          <a:p>
            <a:r>
              <a:rPr lang="en-US" altLang="en-US" sz="1600"/>
              <a:t>fprintf('Initial: x = %.2f, y = %.6f\n\n', x, y);</a:t>
            </a:r>
            <a:endParaRPr lang="en-US" altLang="en-US" sz="1600"/>
          </a:p>
          <a:p>
            <a:r>
              <a:rPr lang="en-US" altLang="en-US" sz="1600"/>
              <a:t>for k = 1:n</a:t>
            </a:r>
            <a:endParaRPr lang="en-US" altLang="en-US" sz="1600"/>
          </a:p>
          <a:p>
            <a:r>
              <a:rPr lang="en-US" altLang="en-US" sz="1600"/>
              <a:t>    k1 = h * f(x, y);</a:t>
            </a:r>
            <a:endParaRPr lang="en-US" altLang="en-US" sz="1600"/>
          </a:p>
          <a:p>
            <a:r>
              <a:rPr lang="en-US" altLang="en-US" sz="1600"/>
              <a:t>   </a:t>
            </a:r>
            <a:endParaRPr lang="en-US" altLang="en-US" sz="16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 k2 = h * f(x + h/2, y + k1/2);</a:t>
            </a:r>
            <a:endParaRPr lang="en-US" altLang="en-US"/>
          </a:p>
          <a:p>
            <a:r>
              <a:rPr lang="en-US" altLang="en-US">
                <a:sym typeface="+mn-ea"/>
              </a:rPr>
              <a:t>    k3 = h * f(x + h/2, y + k2/2);</a:t>
            </a:r>
            <a:endParaRPr lang="en-US" altLang="en-US"/>
          </a:p>
          <a:p>
            <a:r>
              <a:rPr lang="en-US" altLang="en-US">
                <a:sym typeface="+mn-ea"/>
              </a:rPr>
              <a:t>    k4 = h * f(x + h, y + k3);</a:t>
            </a:r>
            <a:endParaRPr lang="en-US" altLang="en-US"/>
          </a:p>
          <a:p>
            <a:r>
              <a:rPr lang="en-US" altLang="en-US">
                <a:sym typeface="+mn-ea"/>
              </a:rPr>
              <a:t>    y = y + (k1 + 2*k2 + 2*k3 + k4) / 6;</a:t>
            </a:r>
            <a:endParaRPr lang="en-US" altLang="en-US"/>
          </a:p>
          <a:p>
            <a:r>
              <a:rPr lang="en-US" altLang="en-US">
                <a:sym typeface="+mn-ea"/>
              </a:rPr>
              <a:t>    x = x + h;</a:t>
            </a:r>
            <a:endParaRPr lang="en-US" altLang="en-US"/>
          </a:p>
          <a:p>
            <a:r>
              <a:rPr lang="en-US" altLang="en-US">
                <a:sym typeface="+mn-ea"/>
              </a:rPr>
              <a:t>    fprintf('%d\t %.2f\t\t %.6f\n', k, x, y);</a:t>
            </a:r>
            <a:endParaRPr lang="en-US" altLang="en-US"/>
          </a:p>
          <a:p>
            <a:r>
              <a:rPr lang="en-US" altLang="en-US">
                <a:sym typeface="+mn-ea"/>
              </a:rPr>
              <a:t>end</a:t>
            </a:r>
            <a:endParaRPr lang="en-US" altLang="en-US"/>
          </a:p>
          <a:p>
            <a:r>
              <a:rPr lang="en-US" altLang="en-US">
                <a:sym typeface="+mn-ea"/>
              </a:rPr>
              <a:t>fprintf('\nFinal answer: y(0.5) = %.6f\n', y);</a:t>
            </a:r>
            <a:endParaRPr lang="en-US" altLang="en-US"/>
          </a:p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RUNGE-KUTTA USING WHILE LOOP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25000"/>
          </a:bodyPr>
          <a:p>
            <a:r>
              <a:rPr lang="en-US" altLang="en-US" sz="6400"/>
              <a:t>% Runge-Kutta 4th Order using WHILE loop</a:t>
            </a:r>
            <a:endParaRPr lang="en-US" altLang="en-US" sz="6400"/>
          </a:p>
          <a:p>
            <a:r>
              <a:rPr lang="en-US" altLang="en-US" sz="6400"/>
              <a:t>% Equation: dy/dx = 2x + y, y(0) = 1</a:t>
            </a:r>
            <a:endParaRPr lang="en-US" altLang="en-US" sz="6400"/>
          </a:p>
          <a:p>
            <a:r>
              <a:rPr lang="en-US" altLang="en-US" sz="6400"/>
              <a:t>f = @(x, y) 2*x + y;</a:t>
            </a:r>
            <a:endParaRPr lang="en-US" altLang="en-US" sz="6400"/>
          </a:p>
          <a:p>
            <a:r>
              <a:rPr lang="en-US" altLang="en-US" sz="6400"/>
              <a:t>x = 0;</a:t>
            </a:r>
            <a:endParaRPr lang="en-US" altLang="en-US" sz="6400"/>
          </a:p>
          <a:p>
            <a:r>
              <a:rPr lang="en-US" altLang="en-US" sz="6400"/>
              <a:t>y = 1;</a:t>
            </a:r>
            <a:endParaRPr lang="en-US" altLang="en-US" sz="6400"/>
          </a:p>
          <a:p>
            <a:r>
              <a:rPr lang="en-US" altLang="en-US" sz="6400"/>
              <a:t>h = 0.1;</a:t>
            </a:r>
            <a:endParaRPr lang="en-US" altLang="en-US" sz="6400"/>
          </a:p>
          <a:p>
            <a:r>
              <a:rPr lang="en-US" altLang="en-US" sz="6400"/>
              <a:t>n = 5;</a:t>
            </a:r>
            <a:endParaRPr lang="en-US" altLang="en-US" sz="6400"/>
          </a:p>
          <a:p>
            <a:r>
              <a:rPr lang="en-US" altLang="en-US" sz="6400"/>
              <a:t>k = 0;</a:t>
            </a:r>
            <a:endParaRPr lang="en-US" altLang="en-US" sz="6400"/>
          </a:p>
          <a:p>
            <a:r>
              <a:rPr lang="en-US" altLang="en-US" sz="6400"/>
              <a:t>fprintf('Runge-Kutta 4th Order (WHILE loop)\n');</a:t>
            </a:r>
            <a:endParaRPr lang="en-US" altLang="en-US" sz="6400"/>
          </a:p>
          <a:p>
            <a:r>
              <a:rPr lang="en-US" altLang="en-US" sz="6400"/>
              <a:t>fprintf('Initial: x = %.2f, y = %.6f\n\n', x, y);</a:t>
            </a:r>
            <a:endParaRPr lang="en-US" altLang="en-US" sz="6400"/>
          </a:p>
          <a:p>
            <a:r>
              <a:rPr lang="en-US" altLang="en-US" sz="6400"/>
              <a:t>while k &lt; n</a:t>
            </a:r>
            <a:endParaRPr lang="en-US" altLang="en-US" sz="6400"/>
          </a:p>
          <a:p>
            <a:r>
              <a:rPr lang="en-US" altLang="en-US" sz="6400"/>
              <a:t>    </a:t>
            </a:r>
            <a:endParaRPr lang="en-US" altLang="en-US" sz="64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fontScale="75000"/>
          </a:bodyPr>
          <a:p>
            <a:r>
              <a:rPr lang="en-US" altLang="en-US">
                <a:sym typeface="+mn-ea"/>
              </a:rPr>
              <a:t>   k1 = h * f(x, y);</a:t>
            </a:r>
            <a:endParaRPr lang="en-US" altLang="en-US"/>
          </a:p>
          <a:p>
            <a:r>
              <a:rPr lang="en-US" altLang="en-US">
                <a:sym typeface="+mn-ea"/>
              </a:rPr>
              <a:t>    k2 = h * f(x + h/2, y + k1/2);</a:t>
            </a:r>
            <a:endParaRPr lang="en-US" altLang="en-US"/>
          </a:p>
          <a:p>
            <a:r>
              <a:rPr lang="en-US" altLang="en-US">
                <a:sym typeface="+mn-ea"/>
              </a:rPr>
              <a:t>    k3 = h * f(x + h/2, y + k2/2);</a:t>
            </a:r>
            <a:endParaRPr lang="en-US" altLang="en-US"/>
          </a:p>
          <a:p>
            <a:r>
              <a:rPr lang="en-US" altLang="en-US">
                <a:sym typeface="+mn-ea"/>
              </a:rPr>
              <a:t>    k4 = h * f(x + h, y + k3);</a:t>
            </a:r>
            <a:endParaRPr lang="en-US" altLang="en-US"/>
          </a:p>
          <a:p>
            <a:r>
              <a:rPr lang="en-US" altLang="en-US">
                <a:sym typeface="+mn-ea"/>
              </a:rPr>
              <a:t>    y = y + (k1 + 2*k2 + 2*k3 + k4) / 6;</a:t>
            </a:r>
            <a:endParaRPr lang="en-US" altLang="en-US"/>
          </a:p>
          <a:p>
            <a:r>
              <a:rPr lang="en-US" altLang="en-US">
                <a:sym typeface="+mn-ea"/>
              </a:rPr>
              <a:t>    x = x + h;</a:t>
            </a:r>
            <a:endParaRPr lang="en-US" altLang="en-US"/>
          </a:p>
          <a:p>
            <a:r>
              <a:rPr lang="en-US" altLang="en-US">
                <a:sym typeface="+mn-ea"/>
              </a:rPr>
              <a:t>    k = k + 1;</a:t>
            </a:r>
            <a:endParaRPr lang="en-US" altLang="en-US"/>
          </a:p>
          <a:p>
            <a:r>
              <a:rPr lang="en-US" altLang="en-US">
                <a:sym typeface="+mn-ea"/>
              </a:rPr>
              <a:t>    fprintf('%d\t %.2f\t\t %.6f\n', i, x, y);</a:t>
            </a:r>
            <a:endParaRPr lang="en-US" altLang="en-US"/>
          </a:p>
          <a:p>
            <a:r>
              <a:rPr lang="en-US" altLang="en-US">
                <a:sym typeface="+mn-ea"/>
              </a:rPr>
              <a:t>end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fprintf('\nFinal answer: y(0.5) = %.6f\n', y);</a:t>
            </a:r>
            <a:endParaRPr lang="en-US" altLang="en-US"/>
          </a:p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RUNGE-KUTTA PSEUDOCODE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700"/>
              <a:t>BEGIN</a:t>
            </a:r>
            <a:endParaRPr lang="en-US" altLang="en-US" sz="1700"/>
          </a:p>
          <a:p>
            <a:r>
              <a:rPr lang="en-US" altLang="en-US" sz="1700"/>
              <a:t>    INPUT x0, y0, h, n</a:t>
            </a:r>
            <a:endParaRPr lang="en-US" altLang="en-US" sz="1700"/>
          </a:p>
          <a:p>
            <a:r>
              <a:rPr lang="en-US" altLang="en-US" sz="1700"/>
              <a:t>    SET x = x0</a:t>
            </a:r>
            <a:endParaRPr lang="en-US" altLang="en-US" sz="1700"/>
          </a:p>
          <a:p>
            <a:r>
              <a:rPr lang="en-US" altLang="en-US" sz="1700"/>
              <a:t>    SET y = y0</a:t>
            </a:r>
            <a:endParaRPr lang="en-US" altLang="en-US" sz="1700"/>
          </a:p>
          <a:p>
            <a:r>
              <a:rPr lang="en-US" altLang="en-US" sz="1700"/>
              <a:t>    SET k = 0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    WHILE (k &lt; n) DO</a:t>
            </a:r>
            <a:endParaRPr lang="en-US" altLang="en-US" sz="1700"/>
          </a:p>
          <a:p>
            <a:r>
              <a:rPr lang="en-US" altLang="en-US" sz="1700"/>
              <a:t>        COMPUTE k1 = h * f(x, y)</a:t>
            </a:r>
            <a:endParaRPr lang="en-US" altLang="en-US" sz="1700"/>
          </a:p>
          <a:p>
            <a:r>
              <a:rPr lang="en-US" altLang="en-US" sz="1700"/>
              <a:t>        COMPUTE k2 = h * f(x + h/2, y + k1/2)</a:t>
            </a:r>
            <a:endParaRPr lang="en-US" altLang="en-US" sz="1700"/>
          </a:p>
          <a:p>
            <a:r>
              <a:rPr lang="en-US" altLang="en-US" sz="1700"/>
              <a:t>        COMPUTE k3 = h * f(x + h/2, y + k2/2)</a:t>
            </a:r>
            <a:endParaRPr lang="en-US" altLang="en-US" sz="1700"/>
          </a:p>
          <a:p>
            <a:r>
              <a:rPr lang="en-US" altLang="en-US" sz="1700"/>
              <a:t>       </a:t>
            </a:r>
            <a:endParaRPr lang="en-US" altLang="en-US" sz="17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 COMPUTE k4 = h * f(x + h, y + k3)</a:t>
            </a:r>
            <a:endParaRPr lang="en-US" altLang="en-US"/>
          </a:p>
          <a:p>
            <a:r>
              <a:rPr lang="en-US" altLang="en-US">
                <a:sym typeface="+mn-ea"/>
              </a:rPr>
              <a:t>        COMPUTE y = y + (k1 + 2*k2 + 2*k3 + k4) / 6</a:t>
            </a:r>
            <a:endParaRPr lang="en-US" altLang="en-US"/>
          </a:p>
          <a:p>
            <a:r>
              <a:rPr lang="en-US" altLang="en-US">
                <a:sym typeface="+mn-ea"/>
              </a:rPr>
              <a:t>        COMPUTE x = x + h</a:t>
            </a:r>
            <a:endParaRPr lang="en-US" altLang="en-US"/>
          </a:p>
          <a:p>
            <a:r>
              <a:rPr lang="en-US" altLang="en-US">
                <a:sym typeface="+mn-ea"/>
              </a:rPr>
              <a:t>        SET k = k+ 1</a:t>
            </a:r>
            <a:endParaRPr lang="en-US" altLang="en-US"/>
          </a:p>
          <a:p>
            <a:r>
              <a:rPr lang="en-US" altLang="en-US">
                <a:sym typeface="+mn-ea"/>
              </a:rPr>
              <a:t>        DISPLAY x, y</a:t>
            </a:r>
            <a:endParaRPr lang="en-US" altLang="en-US"/>
          </a:p>
          <a:p>
            <a:r>
              <a:rPr lang="en-US" altLang="en-US">
                <a:sym typeface="+mn-ea"/>
              </a:rPr>
              <a:t>    END WHILE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   DISPLAY "Final y = ", y</a:t>
            </a:r>
            <a:endParaRPr lang="en-US" altLang="en-US"/>
          </a:p>
          <a:p>
            <a:r>
              <a:rPr lang="en-US" altLang="en-US">
                <a:sym typeface="+mn-ea"/>
              </a:rPr>
              <a:t>END</a:t>
            </a:r>
            <a:endParaRPr lang="en-US" altLang="en-US"/>
          </a:p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4301</Words>
  <Application>WPS Presentation</Application>
  <PresentationFormat>Widescreen</PresentationFormat>
  <Paragraphs>229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 RAPHSON’S FORMULA</dc:title>
  <dc:creator>ADMIN</dc:creator>
  <cp:lastModifiedBy>WPS_1790671920</cp:lastModifiedBy>
  <cp:revision>1</cp:revision>
  <dcterms:created xsi:type="dcterms:W3CDTF">2026-09-29T15:26:36Z</dcterms:created>
  <dcterms:modified xsi:type="dcterms:W3CDTF">2026-09-29T15:26:36Z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37678332B9184A139703F94814826352_11</vt:lpwstr>
  </property>
</Properties>
</file>